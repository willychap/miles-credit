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12192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D0C300"/>
    <a:srgbClr val="00B600"/>
    <a:srgbClr val="F2AA84"/>
    <a:srgbClr val="BDCE00"/>
    <a:srgbClr val="30B584"/>
    <a:srgbClr val="DADADA"/>
    <a:srgbClr val="757575"/>
    <a:srgbClr val="E59E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90" d="100"/>
          <a:sy n="90" d="100"/>
        </p:scale>
        <p:origin x="7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5C0A1B-E49F-554F-9449-C265AD928851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7D357-8B29-1B4C-9122-AF5E49ABEE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442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7D357-8B29-1B4C-9122-AF5E49ABEE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586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96484"/>
            <a:ext cx="103632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02717"/>
            <a:ext cx="9144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622B-85FE-0B43-B28F-7680D0116F5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50255-836E-ED41-A962-13852E1D6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5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622B-85FE-0B43-B28F-7680D0116F5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50255-836E-ED41-A962-13852E1D6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40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79653"/>
            <a:ext cx="105156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119286"/>
            <a:ext cx="105156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622B-85FE-0B43-B28F-7680D0116F5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50255-836E-ED41-A962-13852E1D6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133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434167"/>
            <a:ext cx="51816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622B-85FE-0B43-B28F-7680D0116F5B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50255-836E-ED41-A962-13852E1D6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208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86835"/>
            <a:ext cx="105156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41551"/>
            <a:ext cx="515778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340100"/>
            <a:ext cx="515778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41551"/>
            <a:ext cx="5183188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340100"/>
            <a:ext cx="518318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622B-85FE-0B43-B28F-7680D0116F5B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50255-836E-ED41-A962-13852E1D6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440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622B-85FE-0B43-B28F-7680D0116F5B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50255-836E-ED41-A962-13852E1D6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2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622B-85FE-0B43-B28F-7680D0116F5B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50255-836E-ED41-A962-13852E1D6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38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316568"/>
            <a:ext cx="61722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622B-85FE-0B43-B28F-7680D0116F5B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50255-836E-ED41-A962-13852E1D6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461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09600"/>
            <a:ext cx="3932237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16568"/>
            <a:ext cx="61722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622B-85FE-0B43-B28F-7680D0116F5B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50255-836E-ED41-A962-13852E1D6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84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622B-85FE-0B43-B28F-7680D0116F5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50255-836E-ED41-A962-13852E1D6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6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86833"/>
            <a:ext cx="26289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86833"/>
            <a:ext cx="77343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4622B-85FE-0B43-B28F-7680D0116F5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50255-836E-ED41-A962-13852E1D6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951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86835"/>
            <a:ext cx="105156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434167"/>
            <a:ext cx="105156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64622B-85FE-0B43-B28F-7680D0116F5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475136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475136"/>
            <a:ext cx="2743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D50255-836E-ED41-A962-13852E1D64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1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C3BFF9E8-B56C-5D09-64D7-764FC1D05E52}"/>
                  </a:ext>
                </a:extLst>
              </p:cNvPr>
              <p:cNvSpPr/>
              <p:nvPr/>
            </p:nvSpPr>
            <p:spPr>
              <a:xfrm>
                <a:off x="1201478" y="1064096"/>
                <a:ext cx="1137684" cy="978195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Input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C3BFF9E8-B56C-5D09-64D7-764FC1D05E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478" y="1064096"/>
                <a:ext cx="1137684" cy="978195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70218516-863F-0250-9CA1-57F0752B3769}"/>
                  </a:ext>
                </a:extLst>
              </p:cNvPr>
              <p:cNvSpPr/>
              <p:nvPr/>
            </p:nvSpPr>
            <p:spPr>
              <a:xfrm>
                <a:off x="1168527" y="3802231"/>
                <a:ext cx="1137684" cy="978195"/>
              </a:xfrm>
              <a:prstGeom prst="roundRect">
                <a:avLst/>
              </a:prstGeom>
              <a:solidFill>
                <a:srgbClr val="DADAD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Input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70218516-863F-0250-9CA1-57F0752B37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527" y="3802231"/>
                <a:ext cx="1137684" cy="97819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ECEEBE2-A4E0-8BC5-A6EF-683D99E3A4C0}"/>
              </a:ext>
            </a:extLst>
          </p:cNvPr>
          <p:cNvCxnSpPr>
            <a:cxnSpLocks/>
            <a:stCxn id="4" idx="3"/>
            <a:endCxn id="17" idx="1"/>
          </p:cNvCxnSpPr>
          <p:nvPr/>
        </p:nvCxnSpPr>
        <p:spPr>
          <a:xfrm>
            <a:off x="2339163" y="1553193"/>
            <a:ext cx="446565" cy="5320"/>
          </a:xfrm>
          <a:prstGeom prst="straightConnector1">
            <a:avLst/>
          </a:prstGeom>
          <a:ln w="28575">
            <a:solidFill>
              <a:srgbClr val="156082">
                <a:alpha val="72157"/>
              </a:srgb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24DF827-18E4-E826-D234-543F5231C0C8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 flipV="1">
            <a:off x="2306212" y="4291328"/>
            <a:ext cx="446565" cy="1"/>
          </a:xfrm>
          <a:prstGeom prst="straightConnector1">
            <a:avLst/>
          </a:prstGeom>
          <a:ln w="28575">
            <a:solidFill>
              <a:srgbClr val="156082">
                <a:alpha val="72157"/>
              </a:srgb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77EF4E5-EEBF-FDD5-723D-C2B938BA0D3D}"/>
              </a:ext>
            </a:extLst>
          </p:cNvPr>
          <p:cNvSpPr/>
          <p:nvPr/>
        </p:nvSpPr>
        <p:spPr>
          <a:xfrm>
            <a:off x="2785727" y="1106631"/>
            <a:ext cx="1839432" cy="903765"/>
          </a:xfrm>
          <a:prstGeom prst="rect">
            <a:avLst/>
          </a:prstGeom>
          <a:solidFill>
            <a:srgbClr val="00B600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Network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4AF83D-0944-50DE-E671-FA5E49FB21DB}"/>
              </a:ext>
            </a:extLst>
          </p:cNvPr>
          <p:cNvSpPr/>
          <p:nvPr/>
        </p:nvSpPr>
        <p:spPr>
          <a:xfrm>
            <a:off x="2752776" y="3839445"/>
            <a:ext cx="1839432" cy="903765"/>
          </a:xfrm>
          <a:prstGeom prst="rect">
            <a:avLst/>
          </a:prstGeom>
          <a:solidFill>
            <a:srgbClr val="00B600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Network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D439E1F-45DB-4EE5-F925-60EBAE60982E}"/>
              </a:ext>
            </a:extLst>
          </p:cNvPr>
          <p:cNvCxnSpPr/>
          <p:nvPr/>
        </p:nvCxnSpPr>
        <p:spPr>
          <a:xfrm>
            <a:off x="4625160" y="1553192"/>
            <a:ext cx="499733" cy="0"/>
          </a:xfrm>
          <a:prstGeom prst="straightConnector1">
            <a:avLst/>
          </a:prstGeom>
          <a:ln w="28575">
            <a:solidFill>
              <a:srgbClr val="156082">
                <a:alpha val="72157"/>
              </a:srgb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882B5A14-6005-AC9E-C949-0BBE2ECFEB15}"/>
                  </a:ext>
                </a:extLst>
              </p:cNvPr>
              <p:cNvSpPr/>
              <p:nvPr/>
            </p:nvSpPr>
            <p:spPr>
              <a:xfrm>
                <a:off x="5124892" y="1057015"/>
                <a:ext cx="1233377" cy="978195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882B5A14-6005-AC9E-C949-0BBE2ECFEB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892" y="1057015"/>
                <a:ext cx="1233377" cy="978195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D799908-4395-F5C4-37B9-D6DFEE8E16E2}"/>
              </a:ext>
            </a:extLst>
          </p:cNvPr>
          <p:cNvCxnSpPr/>
          <p:nvPr/>
        </p:nvCxnSpPr>
        <p:spPr>
          <a:xfrm>
            <a:off x="4592209" y="4298408"/>
            <a:ext cx="499733" cy="0"/>
          </a:xfrm>
          <a:prstGeom prst="straightConnector1">
            <a:avLst/>
          </a:prstGeom>
          <a:ln w="28575">
            <a:solidFill>
              <a:srgbClr val="156082">
                <a:alpha val="72157"/>
              </a:srgb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46924B22-94D4-B7EF-0232-9F0390F445B1}"/>
                  </a:ext>
                </a:extLst>
              </p:cNvPr>
              <p:cNvSpPr/>
              <p:nvPr/>
            </p:nvSpPr>
            <p:spPr>
              <a:xfrm>
                <a:off x="5091941" y="3802231"/>
                <a:ext cx="1233377" cy="978195"/>
              </a:xfrm>
              <a:prstGeom prst="roundRect">
                <a:avLst/>
              </a:prstGeom>
              <a:solidFill>
                <a:srgbClr val="DADAD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Output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𝑟𝑒</m:t>
                        </m:r>
                      </m:sup>
                    </m:sSubSup>
                  </m:oMath>
                </a14:m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46924B22-94D4-B7EF-0232-9F0390F445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941" y="3802231"/>
                <a:ext cx="1233377" cy="978195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A0D454ED-6726-0840-AFF6-8A596B57142E}"/>
              </a:ext>
            </a:extLst>
          </p:cNvPr>
          <p:cNvCxnSpPr>
            <a:stCxn id="30" idx="2"/>
            <a:endCxn id="17" idx="2"/>
          </p:cNvCxnSpPr>
          <p:nvPr/>
        </p:nvCxnSpPr>
        <p:spPr>
          <a:xfrm rot="5400000" flipH="1">
            <a:off x="4711105" y="1004734"/>
            <a:ext cx="24814" cy="2036138"/>
          </a:xfrm>
          <a:prstGeom prst="bentConnector3">
            <a:avLst>
              <a:gd name="adj1" fmla="val -921254"/>
            </a:avLst>
          </a:prstGeom>
          <a:ln w="28575">
            <a:solidFill>
              <a:schemeClr val="bg2">
                <a:lumMod val="25000"/>
              </a:schemeClr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3DD537BA-498A-00F2-DDD9-C07D1DC2A4A8}"/>
                  </a:ext>
                </a:extLst>
              </p:cNvPr>
              <p:cNvSpPr/>
              <p:nvPr/>
            </p:nvSpPr>
            <p:spPr>
              <a:xfrm>
                <a:off x="4222178" y="413517"/>
                <a:ext cx="3038805" cy="395409"/>
              </a:xfrm>
              <a:prstGeom prst="roundRect">
                <a:avLst/>
              </a:prstGeom>
              <a:solidFill>
                <a:schemeClr val="accent5">
                  <a:lumMod val="75000"/>
                  <a:alpha val="29804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Supervised Loss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39" name="Rounded Rectangle 38">
                <a:extLst>
                  <a:ext uri="{FF2B5EF4-FFF2-40B4-BE49-F238E27FC236}">
                    <a16:creationId xmlns:a16="http://schemas.microsoft.com/office/drawing/2014/main" id="{3DD537BA-498A-00F2-DDD9-C07D1DC2A4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178" y="413517"/>
                <a:ext cx="3038805" cy="395409"/>
              </a:xfrm>
              <a:prstGeom prst="roundRect">
                <a:avLst/>
              </a:prstGeom>
              <a:blipFill>
                <a:blip r:embed="rId7"/>
                <a:stretch>
                  <a:fillRect b="-9091"/>
                </a:stretch>
              </a:blipFill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BA6C3A67-1D55-943B-A644-72781ADBB921}"/>
              </a:ext>
            </a:extLst>
          </p:cNvPr>
          <p:cNvCxnSpPr>
            <a:stCxn id="39" idx="2"/>
            <a:endCxn id="30" idx="0"/>
          </p:cNvCxnSpPr>
          <p:nvPr/>
        </p:nvCxnSpPr>
        <p:spPr>
          <a:xfrm>
            <a:off x="5741580" y="808926"/>
            <a:ext cx="0" cy="248089"/>
          </a:xfrm>
          <a:prstGeom prst="straightConnector1">
            <a:avLst/>
          </a:prstGeom>
          <a:ln w="38100">
            <a:solidFill>
              <a:srgbClr val="156082">
                <a:alpha val="72157"/>
              </a:srgbClr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B9FCB2E-0FFF-DD09-6AED-A8774A1CD205}"/>
              </a:ext>
            </a:extLst>
          </p:cNvPr>
          <p:cNvSpPr txBox="1"/>
          <p:nvPr/>
        </p:nvSpPr>
        <p:spPr>
          <a:xfrm>
            <a:off x="4210706" y="2260335"/>
            <a:ext cx="102561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gradient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FFFCB92-C4BE-4F73-9A9A-E77AF1072F67}"/>
              </a:ext>
            </a:extLst>
          </p:cNvPr>
          <p:cNvCxnSpPr>
            <a:cxnSpLocks/>
            <a:stCxn id="30" idx="3"/>
            <a:endCxn id="48" idx="1"/>
          </p:cNvCxnSpPr>
          <p:nvPr/>
        </p:nvCxnSpPr>
        <p:spPr>
          <a:xfrm flipV="1">
            <a:off x="6358269" y="1546112"/>
            <a:ext cx="1888668" cy="1"/>
          </a:xfrm>
          <a:prstGeom prst="straightConnector1">
            <a:avLst/>
          </a:prstGeom>
          <a:ln w="28575">
            <a:solidFill>
              <a:srgbClr val="156082">
                <a:alpha val="72157"/>
              </a:srgbClr>
            </a:solidFill>
            <a:headEnd w="lg" len="med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F61CD0FF-D0D5-D47A-66C8-BA9F89AE78D4}"/>
                  </a:ext>
                </a:extLst>
              </p:cNvPr>
              <p:cNvSpPr/>
              <p:nvPr/>
            </p:nvSpPr>
            <p:spPr>
              <a:xfrm>
                <a:off x="8246937" y="1057014"/>
                <a:ext cx="3145897" cy="978195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Delivered Output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sz="1600" dirty="0">
                  <a:solidFill>
                    <a:sysClr val="windowText" lastClr="000000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Budget Not Closed</a:t>
                </a:r>
              </a:p>
            </p:txBody>
          </p:sp>
        </mc:Choice>
        <mc:Fallback>
          <p:sp>
            <p:nvSpPr>
              <p:cNvPr id="48" name="Rounded Rectangle 47">
                <a:extLst>
                  <a:ext uri="{FF2B5EF4-FFF2-40B4-BE49-F238E27FC236}">
                    <a16:creationId xmlns:a16="http://schemas.microsoft.com/office/drawing/2014/main" id="{F61CD0FF-D0D5-D47A-66C8-BA9F89AE78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6937" y="1057014"/>
                <a:ext cx="3145897" cy="978195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9021C15-5500-9347-7F7C-5CAAD13B86CB}"/>
              </a:ext>
            </a:extLst>
          </p:cNvPr>
          <p:cNvCxnSpPr>
            <a:cxnSpLocks/>
            <a:stCxn id="32" idx="3"/>
            <a:endCxn id="53" idx="1"/>
          </p:cNvCxnSpPr>
          <p:nvPr/>
        </p:nvCxnSpPr>
        <p:spPr>
          <a:xfrm>
            <a:off x="6325317" y="4291328"/>
            <a:ext cx="318976" cy="7080"/>
          </a:xfrm>
          <a:prstGeom prst="straightConnector1">
            <a:avLst/>
          </a:prstGeom>
          <a:ln w="28575">
            <a:solidFill>
              <a:srgbClr val="156082">
                <a:alpha val="72157"/>
              </a:srgb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Rounded Rectangle 52">
                <a:extLst>
                  <a:ext uri="{FF2B5EF4-FFF2-40B4-BE49-F238E27FC236}">
                    <a16:creationId xmlns:a16="http://schemas.microsoft.com/office/drawing/2014/main" id="{1FE70E1E-B785-5808-8C0A-4125F49E5AF6}"/>
                  </a:ext>
                </a:extLst>
              </p:cNvPr>
              <p:cNvSpPr/>
              <p:nvPr/>
            </p:nvSpPr>
            <p:spPr>
              <a:xfrm>
                <a:off x="6644294" y="3809311"/>
                <a:ext cx="1233377" cy="978195"/>
              </a:xfrm>
              <a:prstGeom prst="roundRect">
                <a:avLst/>
              </a:prstGeom>
              <a:solidFill>
                <a:srgbClr val="F2AA84">
                  <a:alpha val="72157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Fixer C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i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1600" i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→</m:t>
                      </m:r>
                      <m:r>
                        <a:rPr lang="en-US" sz="1600" i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𝑟𝑃</m:t>
                      </m:r>
                      <m:r>
                        <a:rPr lang="en-US" sz="1600" i="1" dirty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53" name="Rounded Rectangle 52">
                <a:extLst>
                  <a:ext uri="{FF2B5EF4-FFF2-40B4-BE49-F238E27FC236}">
                    <a16:creationId xmlns:a16="http://schemas.microsoft.com/office/drawing/2014/main" id="{1FE70E1E-B785-5808-8C0A-4125F49E5A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294" y="3809311"/>
                <a:ext cx="1233377" cy="978195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A64CB12B-C08C-EFC9-0220-8DEC5C3644A8}"/>
                  </a:ext>
                </a:extLst>
              </p:cNvPr>
              <p:cNvSpPr/>
              <p:nvPr/>
            </p:nvSpPr>
            <p:spPr>
              <a:xfrm>
                <a:off x="6484806" y="3078402"/>
                <a:ext cx="3038805" cy="395409"/>
              </a:xfrm>
              <a:prstGeom prst="roundRect">
                <a:avLst/>
              </a:prstGeom>
              <a:solidFill>
                <a:schemeClr val="accent5">
                  <a:lumMod val="75000"/>
                  <a:alpha val="29804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Supervised Loss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1600" b="0" i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𝑟𝑒</m:t>
                        </m:r>
                      </m:sup>
                    </m:sSubSup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sz="16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A64CB12B-C08C-EFC9-0220-8DEC5C3644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4806" y="3078402"/>
                <a:ext cx="3038805" cy="395409"/>
              </a:xfrm>
              <a:prstGeom prst="roundRect">
                <a:avLst/>
              </a:prstGeom>
              <a:blipFill>
                <a:blip r:embed="rId10"/>
                <a:stretch>
                  <a:fillRect b="-5882"/>
                </a:stretch>
              </a:blipFill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EEA9B7F2-C320-D735-4E43-6F8EB7C101A7}"/>
                  </a:ext>
                </a:extLst>
              </p:cNvPr>
              <p:cNvSpPr/>
              <p:nvPr/>
            </p:nvSpPr>
            <p:spPr>
              <a:xfrm>
                <a:off x="8246937" y="3809311"/>
                <a:ext cx="3145897" cy="97819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Delivered Output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160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𝑝𝑟𝑒</m:t>
                        </m:r>
                      </m:sup>
                    </m:sSubSup>
                    <m:r>
                      <a:rPr lang="en-US" sz="16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</a:rPr>
                  <a:t> </a:t>
                </a:r>
              </a:p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Budget Closed to Machine Precision</a:t>
                </a:r>
              </a:p>
            </p:txBody>
          </p:sp>
        </mc:Choice>
        <mc:Fallback>
          <p:sp>
            <p:nvSpPr>
              <p:cNvPr id="57" name="Rounded Rectangle 56">
                <a:extLst>
                  <a:ext uri="{FF2B5EF4-FFF2-40B4-BE49-F238E27FC236}">
                    <a16:creationId xmlns:a16="http://schemas.microsoft.com/office/drawing/2014/main" id="{EEA9B7F2-C320-D735-4E43-6F8EB7C101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6937" y="3809311"/>
                <a:ext cx="3145897" cy="978195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B702BCE-D887-4A7C-4F42-03183B0739F5}"/>
              </a:ext>
            </a:extLst>
          </p:cNvPr>
          <p:cNvCxnSpPr>
            <a:cxnSpLocks/>
            <a:stCxn id="53" idx="3"/>
            <a:endCxn id="57" idx="1"/>
          </p:cNvCxnSpPr>
          <p:nvPr/>
        </p:nvCxnSpPr>
        <p:spPr>
          <a:xfrm>
            <a:off x="7877671" y="4298409"/>
            <a:ext cx="369266" cy="0"/>
          </a:xfrm>
          <a:prstGeom prst="straightConnector1">
            <a:avLst/>
          </a:prstGeom>
          <a:ln w="28575">
            <a:solidFill>
              <a:srgbClr val="156082">
                <a:alpha val="72157"/>
              </a:srgb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F800C2C-587E-FDCD-0AEF-62B200E972EB}"/>
              </a:ext>
            </a:extLst>
          </p:cNvPr>
          <p:cNvCxnSpPr>
            <a:cxnSpLocks/>
            <a:stCxn id="53" idx="0"/>
            <a:endCxn id="56" idx="2"/>
          </p:cNvCxnSpPr>
          <p:nvPr/>
        </p:nvCxnSpPr>
        <p:spPr>
          <a:xfrm flipV="1">
            <a:off x="7260982" y="3473810"/>
            <a:ext cx="743226" cy="335500"/>
          </a:xfrm>
          <a:prstGeom prst="straightConnector1">
            <a:avLst/>
          </a:prstGeom>
          <a:ln w="28575">
            <a:solidFill>
              <a:srgbClr val="156082">
                <a:alpha val="72157"/>
              </a:srgbClr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Elbow Connector 74">
            <a:extLst>
              <a:ext uri="{FF2B5EF4-FFF2-40B4-BE49-F238E27FC236}">
                <a16:creationId xmlns:a16="http://schemas.microsoft.com/office/drawing/2014/main" id="{ABC93F6D-C0B5-953D-7CBC-D8B5FB538D91}"/>
              </a:ext>
            </a:extLst>
          </p:cNvPr>
          <p:cNvCxnSpPr>
            <a:cxnSpLocks/>
            <a:stCxn id="56" idx="2"/>
          </p:cNvCxnSpPr>
          <p:nvPr/>
        </p:nvCxnSpPr>
        <p:spPr>
          <a:xfrm rot="5400000">
            <a:off x="6489402" y="3717500"/>
            <a:ext cx="1758497" cy="1271119"/>
          </a:xfrm>
          <a:prstGeom prst="bentConnector2">
            <a:avLst/>
          </a:prstGeom>
          <a:ln w="38100"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8CFDEB66-8D0E-348D-8E90-B4756CD6ACC7}"/>
              </a:ext>
            </a:extLst>
          </p:cNvPr>
          <p:cNvCxnSpPr>
            <a:cxnSpLocks/>
            <a:endCxn id="18" idx="2"/>
          </p:cNvCxnSpPr>
          <p:nvPr/>
        </p:nvCxnSpPr>
        <p:spPr>
          <a:xfrm rot="10800000">
            <a:off x="3672493" y="4743211"/>
            <a:ext cx="2986433" cy="494487"/>
          </a:xfrm>
          <a:prstGeom prst="bentConnector2">
            <a:avLst/>
          </a:prstGeom>
          <a:ln w="38100">
            <a:solidFill>
              <a:schemeClr val="accent2">
                <a:lumMod val="40000"/>
                <a:lumOff val="6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0" name="Rounded Rectangle 79">
                <a:extLst>
                  <a:ext uri="{FF2B5EF4-FFF2-40B4-BE49-F238E27FC236}">
                    <a16:creationId xmlns:a16="http://schemas.microsoft.com/office/drawing/2014/main" id="{FAB135C2-71BB-DEB4-233F-6F887EFC0DB9}"/>
                  </a:ext>
                </a:extLst>
              </p:cNvPr>
              <p:cNvSpPr/>
              <p:nvPr/>
            </p:nvSpPr>
            <p:spPr>
              <a:xfrm>
                <a:off x="1168528" y="7106936"/>
                <a:ext cx="1137684" cy="978195"/>
              </a:xfrm>
              <a:prstGeom prst="roundRect">
                <a:avLst/>
              </a:prstGeom>
              <a:solidFill>
                <a:srgbClr val="DADAD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Input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80" name="Rounded Rectangle 79">
                <a:extLst>
                  <a:ext uri="{FF2B5EF4-FFF2-40B4-BE49-F238E27FC236}">
                    <a16:creationId xmlns:a16="http://schemas.microsoft.com/office/drawing/2014/main" id="{FAB135C2-71BB-DEB4-233F-6F887EFC0D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8528" y="7106936"/>
                <a:ext cx="1137684" cy="978195"/>
              </a:xfrm>
              <a:prstGeom prst="round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30BBEE5-5B0A-640A-A630-572269C34A27}"/>
              </a:ext>
            </a:extLst>
          </p:cNvPr>
          <p:cNvCxnSpPr>
            <a:cxnSpLocks/>
            <a:stCxn id="80" idx="3"/>
            <a:endCxn id="82" idx="1"/>
          </p:cNvCxnSpPr>
          <p:nvPr/>
        </p:nvCxnSpPr>
        <p:spPr>
          <a:xfrm flipV="1">
            <a:off x="2306213" y="7596033"/>
            <a:ext cx="446565" cy="1"/>
          </a:xfrm>
          <a:prstGeom prst="straightConnector1">
            <a:avLst/>
          </a:prstGeom>
          <a:ln w="28575">
            <a:solidFill>
              <a:srgbClr val="156082">
                <a:alpha val="72157"/>
              </a:srgb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CA48B985-F1B7-BFCC-3599-042C186F4656}"/>
              </a:ext>
            </a:extLst>
          </p:cNvPr>
          <p:cNvSpPr/>
          <p:nvPr/>
        </p:nvSpPr>
        <p:spPr>
          <a:xfrm>
            <a:off x="2752777" y="7144150"/>
            <a:ext cx="1839432" cy="903765"/>
          </a:xfrm>
          <a:prstGeom prst="rect">
            <a:avLst/>
          </a:prstGeom>
          <a:solidFill>
            <a:srgbClr val="00B600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Network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4C1CD59-621F-3534-3CC1-852BD1C3DB5E}"/>
              </a:ext>
            </a:extLst>
          </p:cNvPr>
          <p:cNvCxnSpPr/>
          <p:nvPr/>
        </p:nvCxnSpPr>
        <p:spPr>
          <a:xfrm>
            <a:off x="4592210" y="7603113"/>
            <a:ext cx="499733" cy="0"/>
          </a:xfrm>
          <a:prstGeom prst="straightConnector1">
            <a:avLst/>
          </a:prstGeom>
          <a:ln w="28575">
            <a:solidFill>
              <a:srgbClr val="156082">
                <a:alpha val="72157"/>
              </a:srgb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4" name="Rounded Rectangle 83">
                <a:extLst>
                  <a:ext uri="{FF2B5EF4-FFF2-40B4-BE49-F238E27FC236}">
                    <a16:creationId xmlns:a16="http://schemas.microsoft.com/office/drawing/2014/main" id="{95E80CF0-362C-79B5-77C4-B1DF1FC5A0A8}"/>
                  </a:ext>
                </a:extLst>
              </p:cNvPr>
              <p:cNvSpPr/>
              <p:nvPr/>
            </p:nvSpPr>
            <p:spPr>
              <a:xfrm>
                <a:off x="5091942" y="7106936"/>
                <a:ext cx="1233377" cy="978195"/>
              </a:xfrm>
              <a:prstGeom prst="roundRect">
                <a:avLst/>
              </a:prstGeom>
              <a:solidFill>
                <a:srgbClr val="DADADA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Output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𝑟𝑒</m:t>
                        </m:r>
                      </m:sup>
                    </m:sSubSup>
                  </m:oMath>
                </a14:m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84" name="Rounded Rectangle 83">
                <a:extLst>
                  <a:ext uri="{FF2B5EF4-FFF2-40B4-BE49-F238E27FC236}">
                    <a16:creationId xmlns:a16="http://schemas.microsoft.com/office/drawing/2014/main" id="{95E80CF0-362C-79B5-77C4-B1DF1FC5A0A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942" y="7106936"/>
                <a:ext cx="1233377" cy="978195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D020B22-A127-063D-99AA-7D855574B0C9}"/>
              </a:ext>
            </a:extLst>
          </p:cNvPr>
          <p:cNvCxnSpPr>
            <a:cxnSpLocks/>
            <a:stCxn id="84" idx="3"/>
            <a:endCxn id="137" idx="1"/>
          </p:cNvCxnSpPr>
          <p:nvPr/>
        </p:nvCxnSpPr>
        <p:spPr>
          <a:xfrm flipV="1">
            <a:off x="6325319" y="6967449"/>
            <a:ext cx="318974" cy="628585"/>
          </a:xfrm>
          <a:prstGeom prst="straightConnector1">
            <a:avLst/>
          </a:prstGeom>
          <a:ln w="28575">
            <a:solidFill>
              <a:srgbClr val="156082">
                <a:alpha val="72157"/>
              </a:srgb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Rounded Rectangle 85">
                <a:extLst>
                  <a:ext uri="{FF2B5EF4-FFF2-40B4-BE49-F238E27FC236}">
                    <a16:creationId xmlns:a16="http://schemas.microsoft.com/office/drawing/2014/main" id="{BCBC246A-659E-669B-33D0-B0F3D42A4E90}"/>
                  </a:ext>
                </a:extLst>
              </p:cNvPr>
              <p:cNvSpPr/>
              <p:nvPr/>
            </p:nvSpPr>
            <p:spPr>
              <a:xfrm>
                <a:off x="6643050" y="7315134"/>
                <a:ext cx="1233377" cy="582280"/>
              </a:xfrm>
              <a:prstGeom prst="roundRect">
                <a:avLst/>
              </a:prstGeom>
              <a:solidFill>
                <a:srgbClr val="F2AA84">
                  <a:alpha val="72157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Fixer C</a:t>
                </a:r>
              </a:p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sz="16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→</m:t>
                    </m:r>
                    <m:r>
                      <a:rPr lang="en-US" sz="1600" b="0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𝑟𝑃</m:t>
                    </m:r>
                    <m:r>
                      <a:rPr lang="en-US" sz="1600" i="1" dirty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86" name="Rounded Rectangle 85">
                <a:extLst>
                  <a:ext uri="{FF2B5EF4-FFF2-40B4-BE49-F238E27FC236}">
                    <a16:creationId xmlns:a16="http://schemas.microsoft.com/office/drawing/2014/main" id="{BCBC246A-659E-669B-33D0-B0F3D42A4E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3050" y="7315134"/>
                <a:ext cx="1233377" cy="582280"/>
              </a:xfrm>
              <a:prstGeom prst="roundRect">
                <a:avLst/>
              </a:prstGeom>
              <a:blipFill>
                <a:blip r:embed="rId14"/>
                <a:stretch>
                  <a:fillRect t="-2041"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" name="Rounded Rectangle 86">
                <a:extLst>
                  <a:ext uri="{FF2B5EF4-FFF2-40B4-BE49-F238E27FC236}">
                    <a16:creationId xmlns:a16="http://schemas.microsoft.com/office/drawing/2014/main" id="{FC25696F-FC17-62A9-4AE2-1078C1E3068E}"/>
                  </a:ext>
                </a:extLst>
              </p:cNvPr>
              <p:cNvSpPr/>
              <p:nvPr/>
            </p:nvSpPr>
            <p:spPr>
              <a:xfrm>
                <a:off x="3377495" y="6270189"/>
                <a:ext cx="3075546" cy="395409"/>
              </a:xfrm>
              <a:prstGeom prst="roundRect">
                <a:avLst/>
              </a:prstGeom>
              <a:solidFill>
                <a:schemeClr val="accent5">
                  <a:lumMod val="75000"/>
                  <a:alpha val="29804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Supervised Loss 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𝑟𝑒</m:t>
                        </m:r>
                      </m:sup>
                    </m:sSubSup>
                    <m:r>
                      <a:rPr lang="en-US" sz="16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87" name="Rounded Rectangle 86">
                <a:extLst>
                  <a:ext uri="{FF2B5EF4-FFF2-40B4-BE49-F238E27FC236}">
                    <a16:creationId xmlns:a16="http://schemas.microsoft.com/office/drawing/2014/main" id="{FC25696F-FC17-62A9-4AE2-1078C1E306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7495" y="6270189"/>
                <a:ext cx="3075546" cy="395409"/>
              </a:xfrm>
              <a:prstGeom prst="roundRect">
                <a:avLst/>
              </a:prstGeom>
              <a:blipFill>
                <a:blip r:embed="rId15"/>
                <a:stretch>
                  <a:fillRect b="-9091"/>
                </a:stretch>
              </a:blipFill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" name="Rounded Rectangle 87">
                <a:extLst>
                  <a:ext uri="{FF2B5EF4-FFF2-40B4-BE49-F238E27FC236}">
                    <a16:creationId xmlns:a16="http://schemas.microsoft.com/office/drawing/2014/main" id="{B6FDD6FF-451E-B4A9-9977-BC5D9CC31940}"/>
                  </a:ext>
                </a:extLst>
              </p:cNvPr>
              <p:cNvSpPr/>
              <p:nvPr/>
            </p:nvSpPr>
            <p:spPr>
              <a:xfrm>
                <a:off x="8304089" y="7114025"/>
                <a:ext cx="3145897" cy="978195"/>
              </a:xfrm>
              <a:prstGeom prst="roundRect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Delivered Output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160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16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𝑝𝑟𝑒</m:t>
                        </m:r>
                      </m:sup>
                    </m:sSubSup>
                    <m:r>
                      <a:rPr lang="en-US" sz="16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ysClr val="windowText" lastClr="000000"/>
                    </a:solidFill>
                  </a:rPr>
                  <a:t> </a:t>
                </a:r>
              </a:p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Budget Closed to Machine Precision</a:t>
                </a:r>
              </a:p>
            </p:txBody>
          </p:sp>
        </mc:Choice>
        <mc:Fallback>
          <p:sp>
            <p:nvSpPr>
              <p:cNvPr id="88" name="Rounded Rectangle 87">
                <a:extLst>
                  <a:ext uri="{FF2B5EF4-FFF2-40B4-BE49-F238E27FC236}">
                    <a16:creationId xmlns:a16="http://schemas.microsoft.com/office/drawing/2014/main" id="{B6FDD6FF-451E-B4A9-9977-BC5D9CC319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4089" y="7114025"/>
                <a:ext cx="3145897" cy="978195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D0B673AA-B697-11EE-F020-0B91CAF5A07F}"/>
              </a:ext>
            </a:extLst>
          </p:cNvPr>
          <p:cNvCxnSpPr>
            <a:cxnSpLocks/>
            <a:stCxn id="86" idx="3"/>
            <a:endCxn id="88" idx="1"/>
          </p:cNvCxnSpPr>
          <p:nvPr/>
        </p:nvCxnSpPr>
        <p:spPr>
          <a:xfrm flipV="1">
            <a:off x="7876427" y="7603123"/>
            <a:ext cx="427662" cy="3151"/>
          </a:xfrm>
          <a:prstGeom prst="straightConnector1">
            <a:avLst/>
          </a:prstGeom>
          <a:ln w="28575">
            <a:solidFill>
              <a:srgbClr val="156082">
                <a:alpha val="72157"/>
              </a:srgb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CF36850B-E0DA-9E67-53AB-94A78C8A6FBD}"/>
              </a:ext>
            </a:extLst>
          </p:cNvPr>
          <p:cNvCxnSpPr>
            <a:cxnSpLocks/>
            <a:stCxn id="84" idx="0"/>
            <a:endCxn id="87" idx="2"/>
          </p:cNvCxnSpPr>
          <p:nvPr/>
        </p:nvCxnSpPr>
        <p:spPr>
          <a:xfrm flipH="1" flipV="1">
            <a:off x="4915268" y="6665598"/>
            <a:ext cx="793363" cy="441338"/>
          </a:xfrm>
          <a:prstGeom prst="straightConnector1">
            <a:avLst/>
          </a:prstGeom>
          <a:ln w="28575">
            <a:solidFill>
              <a:srgbClr val="156082">
                <a:alpha val="72157"/>
              </a:srgbClr>
            </a:solidFill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091E561-88C6-14F6-7B86-C146ED871CFA}"/>
                  </a:ext>
                </a:extLst>
              </p:cNvPr>
              <p:cNvSpPr txBox="1"/>
              <p:nvPr/>
            </p:nvSpPr>
            <p:spPr>
              <a:xfrm>
                <a:off x="3368148" y="5308803"/>
                <a:ext cx="498059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600" i="1" dirty="0">
                    <a:solidFill>
                      <a:schemeClr val="accent2"/>
                    </a:solidFill>
                  </a:rPr>
                  <a:t>raw amplitude gradient component: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6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endParaRPr lang="en-US" sz="1600" i="1" dirty="0">
                  <a:solidFill>
                    <a:schemeClr val="accent2"/>
                  </a:solidFill>
                </a:endParaRPr>
              </a:p>
            </p:txBody>
          </p:sp>
        </mc:Choice>
        <mc:Fallback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091E561-88C6-14F6-7B86-C146ED871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148" y="5308803"/>
                <a:ext cx="4980595" cy="246221"/>
              </a:xfrm>
              <a:prstGeom prst="rect">
                <a:avLst/>
              </a:prstGeom>
              <a:blipFill>
                <a:blip r:embed="rId17"/>
                <a:stretch>
                  <a:fillRect t="-30000" b="-4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Rounded Rectangle 97">
                <a:extLst>
                  <a:ext uri="{FF2B5EF4-FFF2-40B4-BE49-F238E27FC236}">
                    <a16:creationId xmlns:a16="http://schemas.microsoft.com/office/drawing/2014/main" id="{6FC3DBB4-1D0E-10ED-D090-248A1C33A79F}"/>
                  </a:ext>
                </a:extLst>
              </p:cNvPr>
              <p:cNvSpPr/>
              <p:nvPr/>
            </p:nvSpPr>
            <p:spPr>
              <a:xfrm>
                <a:off x="6453041" y="6270188"/>
                <a:ext cx="3070570" cy="395409"/>
              </a:xfrm>
              <a:prstGeom prst="roundRect">
                <a:avLst/>
              </a:prstGeom>
              <a:solidFill>
                <a:srgbClr val="D0C300">
                  <a:alpha val="65098"/>
                </a:srgb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Imbalance Penalty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b="0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US" sz="16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16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98" name="Rounded Rectangle 97">
                <a:extLst>
                  <a:ext uri="{FF2B5EF4-FFF2-40B4-BE49-F238E27FC236}">
                    <a16:creationId xmlns:a16="http://schemas.microsoft.com/office/drawing/2014/main" id="{6FC3DBB4-1D0E-10ED-D090-248A1C33A7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3041" y="6270188"/>
                <a:ext cx="3070570" cy="395409"/>
              </a:xfrm>
              <a:prstGeom prst="roundRect">
                <a:avLst/>
              </a:prstGeom>
              <a:blipFill>
                <a:blip r:embed="rId18"/>
                <a:stretch>
                  <a:fillRect b="-9091"/>
                </a:stretch>
              </a:blipFill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D402C61E-D82A-AD44-E5C3-16501CD94AAC}"/>
              </a:ext>
            </a:extLst>
          </p:cNvPr>
          <p:cNvCxnSpPr>
            <a:cxnSpLocks/>
            <a:stCxn id="181" idx="4"/>
            <a:endCxn id="82" idx="2"/>
          </p:cNvCxnSpPr>
          <p:nvPr/>
        </p:nvCxnSpPr>
        <p:spPr>
          <a:xfrm rot="5400000">
            <a:off x="4341239" y="5936113"/>
            <a:ext cx="1443056" cy="2780548"/>
          </a:xfrm>
          <a:prstGeom prst="bentConnector3">
            <a:avLst>
              <a:gd name="adj1" fmla="val 115841"/>
            </a:avLst>
          </a:prstGeom>
          <a:ln w="28575">
            <a:solidFill>
              <a:schemeClr val="bg2">
                <a:lumMod val="25000"/>
              </a:schemeClr>
            </a:solidFill>
            <a:prstDash val="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F47E8C89-C114-69BF-9019-101F396AD525}"/>
              </a:ext>
            </a:extLst>
          </p:cNvPr>
          <p:cNvSpPr txBox="1"/>
          <p:nvPr/>
        </p:nvSpPr>
        <p:spPr>
          <a:xfrm>
            <a:off x="4549961" y="8272184"/>
            <a:ext cx="1025611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600" i="1" dirty="0"/>
              <a:t>gradient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FAD904ED-5737-8F7C-66B0-3ED21D3A9F8A}"/>
              </a:ext>
            </a:extLst>
          </p:cNvPr>
          <p:cNvCxnSpPr>
            <a:cxnSpLocks/>
            <a:stCxn id="137" idx="0"/>
            <a:endCxn id="98" idx="2"/>
          </p:cNvCxnSpPr>
          <p:nvPr/>
        </p:nvCxnSpPr>
        <p:spPr>
          <a:xfrm flipV="1">
            <a:off x="7260982" y="6665597"/>
            <a:ext cx="727344" cy="148391"/>
          </a:xfrm>
          <a:prstGeom prst="straightConnector1">
            <a:avLst/>
          </a:prstGeom>
          <a:ln w="28575">
            <a:solidFill>
              <a:srgbClr val="156082">
                <a:alpha val="72157"/>
              </a:srgb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5212E222-2EC4-FE58-118C-A1236B8291BE}"/>
              </a:ext>
            </a:extLst>
          </p:cNvPr>
          <p:cNvSpPr txBox="1"/>
          <p:nvPr/>
        </p:nvSpPr>
        <p:spPr>
          <a:xfrm>
            <a:off x="961024" y="114304"/>
            <a:ext cx="252756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i="1" dirty="0"/>
              <a:t>a) No constraint 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7A0B07B-B893-AB05-D2FC-414A768502D5}"/>
              </a:ext>
            </a:extLst>
          </p:cNvPr>
          <p:cNvSpPr txBox="1"/>
          <p:nvPr/>
        </p:nvSpPr>
        <p:spPr>
          <a:xfrm>
            <a:off x="972877" y="2779476"/>
            <a:ext cx="548016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i="1" dirty="0"/>
              <a:t>b) Hard Corrector in Supervised Path: </a:t>
            </a:r>
          </a:p>
          <a:p>
            <a:r>
              <a:rPr lang="en-US" b="1" i="1" dirty="0"/>
              <a:t>      Scale Degeneracy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6008AB5-F10B-F2AB-1C66-C59367BE9A72}"/>
              </a:ext>
            </a:extLst>
          </p:cNvPr>
          <p:cNvSpPr txBox="1"/>
          <p:nvPr/>
        </p:nvSpPr>
        <p:spPr>
          <a:xfrm>
            <a:off x="894517" y="5913788"/>
            <a:ext cx="54637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b="1" i="1" dirty="0"/>
              <a:t>c) Pre-correction supervision + imbalance penalty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F3877BA7-ECC9-4451-B49F-8A397B2FCD95}"/>
              </a:ext>
            </a:extLst>
          </p:cNvPr>
          <p:cNvCxnSpPr/>
          <p:nvPr/>
        </p:nvCxnSpPr>
        <p:spPr>
          <a:xfrm>
            <a:off x="972877" y="2692310"/>
            <a:ext cx="10728586" cy="0"/>
          </a:xfrm>
          <a:prstGeom prst="line">
            <a:avLst/>
          </a:prstGeom>
          <a:ln>
            <a:solidFill>
              <a:srgbClr val="156082">
                <a:alpha val="20000"/>
              </a:srgb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0443FC4-6B75-8CA7-8A51-22CDF6D57B92}"/>
              </a:ext>
            </a:extLst>
          </p:cNvPr>
          <p:cNvCxnSpPr/>
          <p:nvPr/>
        </p:nvCxnSpPr>
        <p:spPr>
          <a:xfrm>
            <a:off x="961024" y="5887947"/>
            <a:ext cx="10728586" cy="0"/>
          </a:xfrm>
          <a:prstGeom prst="line">
            <a:avLst/>
          </a:prstGeom>
          <a:ln>
            <a:solidFill>
              <a:srgbClr val="156082">
                <a:alpha val="20000"/>
              </a:srgb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88AE5591-3A4B-98ED-4A2C-229547710910}"/>
                  </a:ext>
                </a:extLst>
              </p:cNvPr>
              <p:cNvSpPr txBox="1"/>
              <p:nvPr/>
            </p:nvSpPr>
            <p:spPr>
              <a:xfrm>
                <a:off x="8814840" y="4834302"/>
                <a:ext cx="1862852" cy="430887"/>
              </a:xfrm>
              <a:prstGeom prst="rect">
                <a:avLst/>
              </a:prstGeom>
              <a:ln>
                <a:solidFill>
                  <a:srgbClr val="757575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400" i="1" dirty="0">
                    <a:solidFill>
                      <a:srgbClr val="757575"/>
                    </a:solidFill>
                  </a:rPr>
                  <a:t>Drift =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757575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400" b="0" i="1" smtClean="0">
                        <a:solidFill>
                          <a:srgbClr val="757575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b="0" i="1" smtClean="0">
                        <a:solidFill>
                          <a:srgbClr val="757575"/>
                        </a:solidFill>
                        <a:latin typeface="Cambria Math" panose="02040503050406030204" pitchFamily="18" charset="0"/>
                      </a:rPr>
                      <m:t>−1|</m:t>
                    </m:r>
                  </m:oMath>
                </a14:m>
                <a:endParaRPr lang="en-US" sz="1400" i="1" dirty="0">
                  <a:solidFill>
                    <a:srgbClr val="757575"/>
                  </a:solidFill>
                </a:endParaRPr>
              </a:p>
              <a:p>
                <a:pPr algn="ctr"/>
                <a:r>
                  <a:rPr lang="en-US" sz="1400" i="1" dirty="0">
                    <a:solidFill>
                      <a:srgbClr val="757575"/>
                    </a:solidFill>
                  </a:rPr>
                  <a:t>Correction Magnitude</a:t>
                </a:r>
              </a:p>
            </p:txBody>
          </p:sp>
        </mc:Choice>
        <mc:Fallback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88AE5591-3A4B-98ED-4A2C-229547710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4840" y="4834302"/>
                <a:ext cx="1862852" cy="430887"/>
              </a:xfrm>
              <a:prstGeom prst="rect">
                <a:avLst/>
              </a:prstGeom>
              <a:blipFill>
                <a:blip r:embed="rId19"/>
                <a:stretch>
                  <a:fillRect t="-11111" b="-22222"/>
                </a:stretch>
              </a:blipFill>
              <a:ln>
                <a:solidFill>
                  <a:srgbClr val="75757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550B991B-EB19-636A-EA75-11ED2A69CD4C}"/>
                  </a:ext>
                </a:extLst>
              </p:cNvPr>
              <p:cNvSpPr txBox="1"/>
              <p:nvPr/>
            </p:nvSpPr>
            <p:spPr>
              <a:xfrm>
                <a:off x="8814840" y="8143756"/>
                <a:ext cx="1862852" cy="430887"/>
              </a:xfrm>
              <a:prstGeom prst="rect">
                <a:avLst/>
              </a:prstGeom>
              <a:ln>
                <a:solidFill>
                  <a:srgbClr val="757575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400" i="1" dirty="0">
                    <a:solidFill>
                      <a:srgbClr val="757575"/>
                    </a:solidFill>
                  </a:rPr>
                  <a:t>Drift =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rgbClr val="757575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400" b="0" i="1" smtClean="0">
                        <a:solidFill>
                          <a:srgbClr val="757575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400" b="0" i="1" smtClean="0">
                        <a:solidFill>
                          <a:srgbClr val="757575"/>
                        </a:solidFill>
                        <a:latin typeface="Cambria Math" panose="02040503050406030204" pitchFamily="18" charset="0"/>
                      </a:rPr>
                      <m:t>−1|</m:t>
                    </m:r>
                  </m:oMath>
                </a14:m>
                <a:endParaRPr lang="en-US" sz="1400" i="1" dirty="0">
                  <a:solidFill>
                    <a:srgbClr val="757575"/>
                  </a:solidFill>
                </a:endParaRPr>
              </a:p>
              <a:p>
                <a:pPr algn="ctr"/>
                <a:r>
                  <a:rPr lang="en-US" sz="1400" i="1" dirty="0">
                    <a:solidFill>
                      <a:srgbClr val="757575"/>
                    </a:solidFill>
                  </a:rPr>
                  <a:t>Correction Magnitude</a:t>
                </a:r>
              </a:p>
            </p:txBody>
          </p:sp>
        </mc:Choice>
        <mc:Fallback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550B991B-EB19-636A-EA75-11ED2A69C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4840" y="8143756"/>
                <a:ext cx="1862852" cy="430887"/>
              </a:xfrm>
              <a:prstGeom prst="rect">
                <a:avLst/>
              </a:prstGeom>
              <a:blipFill>
                <a:blip r:embed="rId20"/>
                <a:stretch>
                  <a:fillRect t="-10811" b="-18919"/>
                </a:stretch>
              </a:blipFill>
              <a:ln>
                <a:solidFill>
                  <a:srgbClr val="75757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Rounded Rectangle 136">
                <a:extLst>
                  <a:ext uri="{FF2B5EF4-FFF2-40B4-BE49-F238E27FC236}">
                    <a16:creationId xmlns:a16="http://schemas.microsoft.com/office/drawing/2014/main" id="{582C6EED-8AD3-74B3-4F0C-053EE02D2D12}"/>
                  </a:ext>
                </a:extLst>
              </p:cNvPr>
              <p:cNvSpPr/>
              <p:nvPr/>
            </p:nvSpPr>
            <p:spPr>
              <a:xfrm>
                <a:off x="6644293" y="6813988"/>
                <a:ext cx="1233378" cy="306921"/>
              </a:xfrm>
              <a:prstGeom prst="roundRect">
                <a:avLst/>
              </a:prstGeom>
              <a:solidFill>
                <a:srgbClr val="F2AA84">
                  <a:alpha val="72157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ysClr val="windowText" lastClr="000000"/>
                    </a:solidFill>
                  </a:rPr>
                  <a:t>Compute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sz="16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>
          <p:sp>
            <p:nvSpPr>
              <p:cNvPr id="137" name="Rounded Rectangle 136">
                <a:extLst>
                  <a:ext uri="{FF2B5EF4-FFF2-40B4-BE49-F238E27FC236}">
                    <a16:creationId xmlns:a16="http://schemas.microsoft.com/office/drawing/2014/main" id="{582C6EED-8AD3-74B3-4F0C-053EE02D2D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293" y="6813988"/>
                <a:ext cx="1233378" cy="306921"/>
              </a:xfrm>
              <a:prstGeom prst="roundRect">
                <a:avLst/>
              </a:prstGeom>
              <a:blipFill>
                <a:blip r:embed="rId21"/>
                <a:stretch>
                  <a:fillRect t="-7692" b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B492C238-3942-EF41-FFF2-35DCD091DA06}"/>
              </a:ext>
            </a:extLst>
          </p:cNvPr>
          <p:cNvCxnSpPr>
            <a:cxnSpLocks/>
            <a:stCxn id="137" idx="2"/>
            <a:endCxn id="86" idx="0"/>
          </p:cNvCxnSpPr>
          <p:nvPr/>
        </p:nvCxnSpPr>
        <p:spPr>
          <a:xfrm flipH="1">
            <a:off x="7259739" y="7120909"/>
            <a:ext cx="1243" cy="194225"/>
          </a:xfrm>
          <a:prstGeom prst="straightConnector1">
            <a:avLst/>
          </a:prstGeom>
          <a:ln w="28575">
            <a:solidFill>
              <a:srgbClr val="156082">
                <a:alpha val="72157"/>
              </a:srgb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CB511E0D-C482-B826-089C-201117C9AD5D}"/>
              </a:ext>
            </a:extLst>
          </p:cNvPr>
          <p:cNvCxnSpPr>
            <a:cxnSpLocks/>
            <a:stCxn id="84" idx="3"/>
            <a:endCxn id="86" idx="1"/>
          </p:cNvCxnSpPr>
          <p:nvPr/>
        </p:nvCxnSpPr>
        <p:spPr>
          <a:xfrm>
            <a:off x="6325319" y="7596034"/>
            <a:ext cx="317731" cy="10240"/>
          </a:xfrm>
          <a:prstGeom prst="straightConnector1">
            <a:avLst/>
          </a:prstGeom>
          <a:ln w="28575">
            <a:solidFill>
              <a:srgbClr val="156082">
                <a:alpha val="87843"/>
              </a:srgbClr>
            </a:solidFill>
            <a:headEnd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>
            <a:extLst>
              <a:ext uri="{FF2B5EF4-FFF2-40B4-BE49-F238E27FC236}">
                <a16:creationId xmlns:a16="http://schemas.microsoft.com/office/drawing/2014/main" id="{72D06F02-B87A-3A96-94A0-18CC670D2713}"/>
              </a:ext>
            </a:extLst>
          </p:cNvPr>
          <p:cNvSpPr/>
          <p:nvPr/>
        </p:nvSpPr>
        <p:spPr>
          <a:xfrm>
            <a:off x="6314125" y="6330539"/>
            <a:ext cx="277832" cy="27432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rgbClr val="757575"/>
                </a:solidFill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501721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249</TotalTime>
  <Words>140</Words>
  <Application>Microsoft Macintosh PowerPoint</Application>
  <PresentationFormat>Custom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Chapman</dc:creator>
  <cp:lastModifiedBy>Will Chapman</cp:lastModifiedBy>
  <cp:revision>52</cp:revision>
  <dcterms:created xsi:type="dcterms:W3CDTF">2026-07-01T13:21:51Z</dcterms:created>
  <dcterms:modified xsi:type="dcterms:W3CDTF">2026-07-01T17:31:19Z</dcterms:modified>
</cp:coreProperties>
</file>